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nva Sans Bold" charset="1" panose="020B0803030501040103"/>
      <p:regular r:id="rId28"/>
    </p:embeddedFont>
    <p:embeddedFont>
      <p:font typeface="Calibri (MS) Bold" charset="1" panose="020F0702030404030204"/>
      <p:regular r:id="rId29"/>
    </p:embeddedFont>
    <p:embeddedFont>
      <p:font typeface="Lato" charset="1" panose="020F0502020204030203"/>
      <p:regular r:id="rId30"/>
    </p:embeddedFont>
    <p:embeddedFont>
      <p:font typeface="Canva Sans" charset="1" panose="020B0503030501040103"/>
      <p:regular r:id="rId31"/>
    </p:embeddedFont>
    <p:embeddedFont>
      <p:font typeface="Biro Script Plus" charset="1" panose="03050500020000090003"/>
      <p:regular r:id="rId32"/>
    </p:embeddedFont>
    <p:embeddedFont>
      <p:font typeface="League Spartan" charset="1" panose="00000800000000000000"/>
      <p:regular r:id="rId33"/>
    </p:embeddedFont>
    <p:embeddedFont>
      <p:font typeface="Sanchez" charset="1" panose="02000000000000000000"/>
      <p:regular r:id="rId34"/>
    </p:embeddedFont>
    <p:embeddedFont>
      <p:font typeface="Open Sauce Bold" charset="1" panose="00000800000000000000"/>
      <p:regular r:id="rId35"/>
    </p:embeddedFont>
    <p:embeddedFont>
      <p:font typeface="Open Sauce" charset="1" panose="00000500000000000000"/>
      <p:regular r:id="rId36"/>
    </p:embeddedFont>
    <p:embeddedFont>
      <p:font typeface="Dekko" charset="1" panose="00000500000000000000"/>
      <p:regular r:id="rId37"/>
    </p:embeddedFont>
    <p:embeddedFont>
      <p:font typeface="Libre Baskerville" charset="1" panose="02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81" y="122925"/>
            <a:ext cx="18286219" cy="10041150"/>
            <a:chOff x="0" y="0"/>
            <a:chExt cx="24381625" cy="13388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1588" cy="13388212"/>
            </a:xfrm>
            <a:custGeom>
              <a:avLst/>
              <a:gdLst/>
              <a:ahLst/>
              <a:cxnLst/>
              <a:rect r="r" b="b" t="t" l="l"/>
              <a:pathLst>
                <a:path h="13388212" w="24381588">
                  <a:moveTo>
                    <a:pt x="0" y="0"/>
                  </a:moveTo>
                  <a:lnTo>
                    <a:pt x="24381588" y="0"/>
                  </a:lnTo>
                  <a:lnTo>
                    <a:pt x="24381588" y="13388212"/>
                  </a:lnTo>
                  <a:lnTo>
                    <a:pt x="0" y="13388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42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00780" y="5565534"/>
            <a:ext cx="106864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860809"/>
            <a:ext cx="162306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COLLECTION DATA TYPES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98140" y="1836017"/>
            <a:ext cx="1032825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360" indent="-29718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 . Ritish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911" y="775306"/>
            <a:ext cx="3300412" cy="62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4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About 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8140" y="2883767"/>
            <a:ext cx="1032825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360" indent="-29718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 . Harish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8140" y="3931517"/>
            <a:ext cx="1032825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360" indent="-29718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 . Srinath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984657" y="962025"/>
            <a:ext cx="10318685" cy="107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b="true" sz="6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COLLECTION OF DATA TYPES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5709" y="2237257"/>
            <a:ext cx="1467658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types are the fun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damental building blocks in programming. They define the kind of data a variable can hold and the operations that can be performed on it.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8695" y="4256405"/>
            <a:ext cx="22106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39328" y="5700084"/>
            <a:ext cx="3837384" cy="264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LISTS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TUPLE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DICTIONARY</a:t>
            </a:r>
          </a:p>
          <a:p>
            <a:pPr algn="l" marL="820427" indent="-410214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51244" y="679886"/>
            <a:ext cx="6931855" cy="740664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28700" y="732598"/>
            <a:ext cx="5669399" cy="100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LISTS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49707"/>
            <a:ext cx="9539764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ax: my_tuple = (1, 2, 3, "apple")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multiple data types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list is an ordered collection of items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Items can be changed, added, or removed.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911322"/>
            <a:ext cx="31383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atures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52084"/>
            <a:ext cx="1052857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able (can be modified)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Ordered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Indexed (supports positive &amp; negative indexing)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 Duplicates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19939" y="537527"/>
            <a:ext cx="522898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LIST METHODS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649095"/>
            <a:ext cx="10404404" cy="760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append(x) 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a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dd element at end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extend(iterable) 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add multiple elements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insert(i, x)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insert at position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remove(x)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remove first occurrence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pop([i])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remove and return element (default last)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clear()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remove all elements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index(x) 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return index of first occurrence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count(x)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count occurrences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sort()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sort list in place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reverse()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reverse list in place</a:t>
            </a:r>
          </a:p>
          <a:p>
            <a:pPr algn="l" marL="679461" indent="-339731" lvl="1">
              <a:lnSpc>
                <a:spcPts val="5538"/>
              </a:lnSpc>
              <a:buFont typeface="Arial"/>
              <a:buChar char="•"/>
            </a:pPr>
            <a:r>
              <a:rPr lang="en-US" b="true" sz="31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copy() </a:t>
            </a:r>
            <a:r>
              <a:rPr lang="en-US" sz="3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shallow copy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2350572"/>
            <a:ext cx="5964976" cy="6946075"/>
          </a:xfrm>
          <a:custGeom>
            <a:avLst/>
            <a:gdLst/>
            <a:ahLst/>
            <a:cxnLst/>
            <a:rect r="r" b="b" t="t" l="l"/>
            <a:pathLst>
              <a:path h="6946075" w="5964976">
                <a:moveTo>
                  <a:pt x="0" y="0"/>
                </a:moveTo>
                <a:lnTo>
                  <a:pt x="5964976" y="0"/>
                </a:lnTo>
                <a:lnTo>
                  <a:pt x="5964976" y="6946076"/>
                </a:lnTo>
                <a:lnTo>
                  <a:pt x="0" y="694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4" t="-940" r="-2996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54295" y="2369746"/>
            <a:ext cx="4911765" cy="6926902"/>
          </a:xfrm>
          <a:custGeom>
            <a:avLst/>
            <a:gdLst/>
            <a:ahLst/>
            <a:cxnLst/>
            <a:rect r="r" b="b" t="t" l="l"/>
            <a:pathLst>
              <a:path h="6926902" w="4911765">
                <a:moveTo>
                  <a:pt x="0" y="0"/>
                </a:moveTo>
                <a:lnTo>
                  <a:pt x="4911765" y="0"/>
                </a:lnTo>
                <a:lnTo>
                  <a:pt x="4911765" y="6926902"/>
                </a:lnTo>
                <a:lnTo>
                  <a:pt x="0" y="692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63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26680" y="2350572"/>
            <a:ext cx="4232620" cy="6946075"/>
          </a:xfrm>
          <a:custGeom>
            <a:avLst/>
            <a:gdLst/>
            <a:ahLst/>
            <a:cxnLst/>
            <a:rect r="r" b="b" t="t" l="l"/>
            <a:pathLst>
              <a:path h="6946075" w="4232620">
                <a:moveTo>
                  <a:pt x="0" y="0"/>
                </a:moveTo>
                <a:lnTo>
                  <a:pt x="4232620" y="0"/>
                </a:lnTo>
                <a:lnTo>
                  <a:pt x="4232620" y="6946076"/>
                </a:lnTo>
                <a:lnTo>
                  <a:pt x="0" y="6946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308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97764" y="141605"/>
            <a:ext cx="549247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CODE 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918256" y="1028700"/>
            <a:ext cx="7369744" cy="5702339"/>
          </a:xfrm>
          <a:custGeom>
            <a:avLst/>
            <a:gdLst/>
            <a:ahLst/>
            <a:cxnLst/>
            <a:rect r="r" b="b" t="t" l="l"/>
            <a:pathLst>
              <a:path h="5702339" w="7369744">
                <a:moveTo>
                  <a:pt x="0" y="0"/>
                </a:moveTo>
                <a:lnTo>
                  <a:pt x="7369744" y="0"/>
                </a:lnTo>
                <a:lnTo>
                  <a:pt x="7369744" y="5702339"/>
                </a:lnTo>
                <a:lnTo>
                  <a:pt x="0" y="5702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6015038" cy="100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TUPLE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49707"/>
            <a:ext cx="901696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ax: my_tuple = (1, 2, 3, "apple")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multiple data types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tuple is an ordered collection of items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652327"/>
            <a:ext cx="31383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atures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33210"/>
            <a:ext cx="1052857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Immut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able (can be modified)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Ordered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Indexed (supports positive &amp; negative indexing)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 Duplicates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138562" y="2969054"/>
            <a:ext cx="6120738" cy="6418575"/>
          </a:xfrm>
          <a:custGeom>
            <a:avLst/>
            <a:gdLst/>
            <a:ahLst/>
            <a:cxnLst/>
            <a:rect r="r" b="b" t="t" l="l"/>
            <a:pathLst>
              <a:path h="6418575" w="6120738">
                <a:moveTo>
                  <a:pt x="0" y="0"/>
                </a:moveTo>
                <a:lnTo>
                  <a:pt x="6120738" y="0"/>
                </a:lnTo>
                <a:lnTo>
                  <a:pt x="6120738" y="6418575"/>
                </a:lnTo>
                <a:lnTo>
                  <a:pt x="0" y="6418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028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23313" y="2969054"/>
            <a:ext cx="6326057" cy="6813183"/>
          </a:xfrm>
          <a:custGeom>
            <a:avLst/>
            <a:gdLst/>
            <a:ahLst/>
            <a:cxnLst/>
            <a:rect r="r" b="b" t="t" l="l"/>
            <a:pathLst>
              <a:path h="6813183" w="6326057">
                <a:moveTo>
                  <a:pt x="0" y="0"/>
                </a:moveTo>
                <a:lnTo>
                  <a:pt x="6326057" y="0"/>
                </a:lnTo>
                <a:lnTo>
                  <a:pt x="6326057" y="6813183"/>
                </a:lnTo>
                <a:lnTo>
                  <a:pt x="0" y="6813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35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561842"/>
            <a:ext cx="12560380" cy="106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884" indent="-330442" lvl="1">
              <a:lnSpc>
                <a:spcPts val="4285"/>
              </a:lnSpc>
              <a:buFont typeface="Arial"/>
              <a:buChar char="•"/>
            </a:pPr>
            <a:r>
              <a:rPr lang="en-US" b="true" sz="30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count(x) → </a:t>
            </a:r>
            <a:r>
              <a:rPr lang="en-US" sz="30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tells you how many times an item appears in the box.</a:t>
            </a:r>
          </a:p>
          <a:p>
            <a:pPr algn="l" marL="660884" indent="-330442" lvl="1">
              <a:lnSpc>
                <a:spcPts val="4285"/>
              </a:lnSpc>
              <a:buFont typeface="Arial"/>
              <a:buChar char="•"/>
            </a:pPr>
            <a:r>
              <a:rPr lang="en-US" b="true" sz="30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index(x) →</a:t>
            </a:r>
            <a:r>
              <a:rPr lang="en-US" sz="30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tells you where the item is located in the box."*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9775" y="537527"/>
            <a:ext cx="594931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TUPLE METHODS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9775" y="3122587"/>
            <a:ext cx="308931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aphicFrame>
        <p:nvGraphicFramePr>
          <p:cNvPr name="Object 4" id="4"/>
          <p:cNvGraphicFramePr/>
          <p:nvPr/>
        </p:nvGraphicFramePr>
        <p:xfrm>
          <a:off x="2462705" y="2627162"/>
          <a:ext cx="5657850" cy="3771900"/>
        </p:xfrm>
        <a:graphic>
          <a:graphicData uri="http://schemas.openxmlformats.org/presentationml/2006/ole">
            <p:oleObj imgW="6781800" imgH="4902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6817578" y="952500"/>
            <a:ext cx="4652844" cy="7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5"/>
              </a:lnSpc>
              <a:spcBef>
                <a:spcPct val="0"/>
              </a:spcBef>
            </a:pPr>
            <a:r>
              <a:rPr lang="en-US" b="true" sz="41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Table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-695183">
            <a:off x="8128722" y="1365048"/>
            <a:ext cx="9666989" cy="159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7"/>
              </a:lnSpc>
            </a:pPr>
            <a:r>
              <a:rPr lang="en-US" sz="13267">
                <a:solidFill>
                  <a:srgbClr val="FF5757">
                    <a:alpha val="36863"/>
                  </a:srgbClr>
                </a:solidFill>
                <a:latin typeface="Biro Script Plus"/>
                <a:ea typeface="Biro Script Plus"/>
                <a:cs typeface="Biro Script Plus"/>
                <a:sym typeface="Biro Script Plus"/>
              </a:rPr>
              <a:t>{key:Value}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424343" y="1028700"/>
            <a:ext cx="8487781" cy="2187802"/>
            <a:chOff x="0" y="0"/>
            <a:chExt cx="11317041" cy="291707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31120"/>
              <a:ext cx="11317041" cy="188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975"/>
                </a:lnSpc>
              </a:pPr>
              <a:r>
                <a:rPr lang="en-US" sz="10500" spc="-52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</a:t>
              </a:r>
              <a:r>
                <a:rPr lang="en-US" sz="10500" spc="-52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ctionaries.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1444" y="-38100"/>
              <a:ext cx="5148153" cy="821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53"/>
                </a:lnSpc>
              </a:pPr>
              <a:r>
                <a:rPr lang="en-US" sz="3887" spc="194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PYTHO</a:t>
              </a:r>
              <a:r>
                <a:rPr lang="en-US" sz="3887" spc="194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19050" y="4078251"/>
            <a:ext cx="13045084" cy="106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sz="306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Python, a </a:t>
            </a:r>
            <a:r>
              <a:rPr lang="en-US" b="true" sz="30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dictionary is a collection of information stored in pairs:</a:t>
            </a:r>
          </a:p>
          <a:p>
            <a:pPr algn="l">
              <a:lnSpc>
                <a:spcPts val="4285"/>
              </a:lnSpc>
            </a:pPr>
            <a:r>
              <a:rPr lang="en-US" b="true" sz="30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 key and a value.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24343" y="5305425"/>
            <a:ext cx="1350288" cy="52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5"/>
              </a:lnSpc>
              <a:spcBef>
                <a:spcPct val="0"/>
              </a:spcBef>
            </a:pPr>
            <a:r>
              <a:rPr lang="en-US" b="true" sz="30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2352" y="5305425"/>
            <a:ext cx="5531763" cy="52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5"/>
              </a:lnSpc>
              <a:spcBef>
                <a:spcPct val="0"/>
              </a:spcBef>
            </a:pPr>
            <a:r>
              <a:rPr lang="en-US" b="true" sz="3061">
                <a:solidFill>
                  <a:srgbClr val="C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dict_var = {1 : ‘good morning’}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78755" y="5748338"/>
            <a:ext cx="818198" cy="1019175"/>
            <a:chOff x="0" y="0"/>
            <a:chExt cx="1090930" cy="1358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49884"/>
              <a:ext cx="989330" cy="1261092"/>
            </a:xfrm>
            <a:custGeom>
              <a:avLst/>
              <a:gdLst/>
              <a:ahLst/>
              <a:cxnLst/>
              <a:rect r="r" b="b" t="t" l="l"/>
              <a:pathLst>
                <a:path h="1261092" w="989330">
                  <a:moveTo>
                    <a:pt x="989330" y="32666"/>
                  </a:moveTo>
                  <a:cubicBezTo>
                    <a:pt x="820420" y="397156"/>
                    <a:pt x="721360" y="588926"/>
                    <a:pt x="628650" y="722276"/>
                  </a:cubicBezTo>
                  <a:cubicBezTo>
                    <a:pt x="544830" y="841656"/>
                    <a:pt x="429260" y="968656"/>
                    <a:pt x="360680" y="1035966"/>
                  </a:cubicBezTo>
                  <a:cubicBezTo>
                    <a:pt x="322580" y="1071526"/>
                    <a:pt x="289560" y="1088036"/>
                    <a:pt x="266700" y="1112166"/>
                  </a:cubicBezTo>
                  <a:cubicBezTo>
                    <a:pt x="251460" y="1128676"/>
                    <a:pt x="250190" y="1142646"/>
                    <a:pt x="232410" y="1159156"/>
                  </a:cubicBezTo>
                  <a:cubicBezTo>
                    <a:pt x="200660" y="1187096"/>
                    <a:pt x="115570" y="1237896"/>
                    <a:pt x="74930" y="1251866"/>
                  </a:cubicBezTo>
                  <a:cubicBezTo>
                    <a:pt x="53340" y="1259486"/>
                    <a:pt x="33020" y="1264566"/>
                    <a:pt x="20320" y="1258216"/>
                  </a:cubicBezTo>
                  <a:cubicBezTo>
                    <a:pt x="10160" y="1253136"/>
                    <a:pt x="0" y="1235356"/>
                    <a:pt x="0" y="1226466"/>
                  </a:cubicBezTo>
                  <a:cubicBezTo>
                    <a:pt x="1270" y="1220116"/>
                    <a:pt x="10160" y="1211226"/>
                    <a:pt x="16510" y="1208686"/>
                  </a:cubicBezTo>
                  <a:cubicBezTo>
                    <a:pt x="22860" y="1207416"/>
                    <a:pt x="34290" y="1208686"/>
                    <a:pt x="40640" y="1212496"/>
                  </a:cubicBezTo>
                  <a:cubicBezTo>
                    <a:pt x="45720" y="1216306"/>
                    <a:pt x="50800" y="1226466"/>
                    <a:pt x="50800" y="1234086"/>
                  </a:cubicBezTo>
                  <a:cubicBezTo>
                    <a:pt x="50800" y="1240436"/>
                    <a:pt x="45720" y="1251866"/>
                    <a:pt x="39370" y="1254406"/>
                  </a:cubicBezTo>
                  <a:cubicBezTo>
                    <a:pt x="30480" y="1258216"/>
                    <a:pt x="7620" y="1253136"/>
                    <a:pt x="2540" y="1245516"/>
                  </a:cubicBezTo>
                  <a:cubicBezTo>
                    <a:pt x="-1270" y="1239166"/>
                    <a:pt x="0" y="1222656"/>
                    <a:pt x="7620" y="1215036"/>
                  </a:cubicBezTo>
                  <a:cubicBezTo>
                    <a:pt x="16510" y="1204876"/>
                    <a:pt x="45720" y="1213766"/>
                    <a:pt x="68580" y="1204876"/>
                  </a:cubicBezTo>
                  <a:cubicBezTo>
                    <a:pt x="104140" y="1190906"/>
                    <a:pt x="165100" y="1152806"/>
                    <a:pt x="194310" y="1126136"/>
                  </a:cubicBezTo>
                  <a:cubicBezTo>
                    <a:pt x="213360" y="1109626"/>
                    <a:pt x="215900" y="1091846"/>
                    <a:pt x="232410" y="1074066"/>
                  </a:cubicBezTo>
                  <a:cubicBezTo>
                    <a:pt x="255270" y="1051206"/>
                    <a:pt x="287020" y="1037236"/>
                    <a:pt x="322580" y="1001676"/>
                  </a:cubicBezTo>
                  <a:cubicBezTo>
                    <a:pt x="389890" y="936906"/>
                    <a:pt x="504190" y="811176"/>
                    <a:pt x="586740" y="694336"/>
                  </a:cubicBezTo>
                  <a:cubicBezTo>
                    <a:pt x="678180" y="563526"/>
                    <a:pt x="774700" y="373026"/>
                    <a:pt x="838200" y="246026"/>
                  </a:cubicBezTo>
                  <a:cubicBezTo>
                    <a:pt x="883920" y="157126"/>
                    <a:pt x="913130" y="37746"/>
                    <a:pt x="943610" y="11076"/>
                  </a:cubicBezTo>
                  <a:cubicBezTo>
                    <a:pt x="955040" y="916"/>
                    <a:pt x="969010" y="-1624"/>
                    <a:pt x="976630" y="916"/>
                  </a:cubicBezTo>
                  <a:cubicBezTo>
                    <a:pt x="984250" y="4726"/>
                    <a:pt x="989330" y="32666"/>
                    <a:pt x="989330" y="32666"/>
                  </a:cubicBezTo>
                </a:path>
              </a:pathLst>
            </a:custGeom>
            <a:solidFill>
              <a:srgbClr val="FF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75232" y="5868353"/>
            <a:ext cx="759143" cy="1523048"/>
            <a:chOff x="0" y="0"/>
            <a:chExt cx="1012190" cy="20307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5369" y="50236"/>
              <a:ext cx="916021" cy="1930195"/>
            </a:xfrm>
            <a:custGeom>
              <a:avLst/>
              <a:gdLst/>
              <a:ahLst/>
              <a:cxnLst/>
              <a:rect r="r" b="b" t="t" l="l"/>
              <a:pathLst>
                <a:path h="1930195" w="916021">
                  <a:moveTo>
                    <a:pt x="56231" y="24694"/>
                  </a:moveTo>
                  <a:cubicBezTo>
                    <a:pt x="63851" y="230434"/>
                    <a:pt x="89251" y="349814"/>
                    <a:pt x="114651" y="465384"/>
                  </a:cubicBezTo>
                  <a:cubicBezTo>
                    <a:pt x="147671" y="611434"/>
                    <a:pt x="199741" y="822254"/>
                    <a:pt x="245461" y="955604"/>
                  </a:cubicBezTo>
                  <a:cubicBezTo>
                    <a:pt x="278481" y="1050854"/>
                    <a:pt x="303881" y="1111814"/>
                    <a:pt x="347061" y="1194364"/>
                  </a:cubicBezTo>
                  <a:cubicBezTo>
                    <a:pt x="395321" y="1288344"/>
                    <a:pt x="457551" y="1393754"/>
                    <a:pt x="527401" y="1486464"/>
                  </a:cubicBezTo>
                  <a:cubicBezTo>
                    <a:pt x="599791" y="1580444"/>
                    <a:pt x="734411" y="1723954"/>
                    <a:pt x="775051" y="1754434"/>
                  </a:cubicBezTo>
                  <a:cubicBezTo>
                    <a:pt x="786481" y="1762054"/>
                    <a:pt x="791561" y="1756974"/>
                    <a:pt x="799181" y="1764594"/>
                  </a:cubicBezTo>
                  <a:cubicBezTo>
                    <a:pt x="815691" y="1778564"/>
                    <a:pt x="829661" y="1821744"/>
                    <a:pt x="848711" y="1844604"/>
                  </a:cubicBezTo>
                  <a:cubicBezTo>
                    <a:pt x="867761" y="1864924"/>
                    <a:pt x="905861" y="1877624"/>
                    <a:pt x="912211" y="1894134"/>
                  </a:cubicBezTo>
                  <a:cubicBezTo>
                    <a:pt x="916021" y="1904294"/>
                    <a:pt x="913481" y="1919534"/>
                    <a:pt x="907131" y="1923344"/>
                  </a:cubicBezTo>
                  <a:cubicBezTo>
                    <a:pt x="900781" y="1929694"/>
                    <a:pt x="876651" y="1927154"/>
                    <a:pt x="870301" y="1922074"/>
                  </a:cubicBezTo>
                  <a:cubicBezTo>
                    <a:pt x="865221" y="1916994"/>
                    <a:pt x="863951" y="1905564"/>
                    <a:pt x="865221" y="1897944"/>
                  </a:cubicBezTo>
                  <a:cubicBezTo>
                    <a:pt x="867761" y="1891594"/>
                    <a:pt x="875381" y="1883974"/>
                    <a:pt x="881731" y="1881434"/>
                  </a:cubicBezTo>
                  <a:cubicBezTo>
                    <a:pt x="889351" y="1878894"/>
                    <a:pt x="899511" y="1881434"/>
                    <a:pt x="905861" y="1885244"/>
                  </a:cubicBezTo>
                  <a:cubicBezTo>
                    <a:pt x="910941" y="1889054"/>
                    <a:pt x="916021" y="1900484"/>
                    <a:pt x="916021" y="1906834"/>
                  </a:cubicBezTo>
                  <a:cubicBezTo>
                    <a:pt x="914751" y="1914454"/>
                    <a:pt x="909671" y="1923344"/>
                    <a:pt x="903321" y="1927154"/>
                  </a:cubicBezTo>
                  <a:cubicBezTo>
                    <a:pt x="896971" y="1930964"/>
                    <a:pt x="888081" y="1930964"/>
                    <a:pt x="879191" y="1928424"/>
                  </a:cubicBezTo>
                  <a:cubicBezTo>
                    <a:pt x="860141" y="1922074"/>
                    <a:pt x="823311" y="1889054"/>
                    <a:pt x="805531" y="1867464"/>
                  </a:cubicBezTo>
                  <a:cubicBezTo>
                    <a:pt x="790291" y="1848414"/>
                    <a:pt x="787751" y="1821744"/>
                    <a:pt x="775051" y="1809044"/>
                  </a:cubicBezTo>
                  <a:cubicBezTo>
                    <a:pt x="764891" y="1798884"/>
                    <a:pt x="754731" y="1801424"/>
                    <a:pt x="739491" y="1789994"/>
                  </a:cubicBezTo>
                  <a:cubicBezTo>
                    <a:pt x="691231" y="1751894"/>
                    <a:pt x="559151" y="1610924"/>
                    <a:pt x="485491" y="1513134"/>
                  </a:cubicBezTo>
                  <a:cubicBezTo>
                    <a:pt x="413101" y="1417884"/>
                    <a:pt x="348331" y="1308664"/>
                    <a:pt x="298801" y="1210874"/>
                  </a:cubicBezTo>
                  <a:cubicBezTo>
                    <a:pt x="255621" y="1128324"/>
                    <a:pt x="230221" y="1066094"/>
                    <a:pt x="197201" y="969574"/>
                  </a:cubicBezTo>
                  <a:cubicBezTo>
                    <a:pt x="151481" y="834954"/>
                    <a:pt x="98141" y="622864"/>
                    <a:pt x="65121" y="474274"/>
                  </a:cubicBezTo>
                  <a:cubicBezTo>
                    <a:pt x="38451" y="354894"/>
                    <a:pt x="11781" y="234244"/>
                    <a:pt x="5431" y="149154"/>
                  </a:cubicBezTo>
                  <a:cubicBezTo>
                    <a:pt x="351" y="94544"/>
                    <a:pt x="-4729" y="34854"/>
                    <a:pt x="7971" y="13264"/>
                  </a:cubicBezTo>
                  <a:cubicBezTo>
                    <a:pt x="14321" y="4374"/>
                    <a:pt x="25751" y="-1976"/>
                    <a:pt x="33371" y="564"/>
                  </a:cubicBezTo>
                  <a:cubicBezTo>
                    <a:pt x="42261" y="1834"/>
                    <a:pt x="56231" y="24694"/>
                    <a:pt x="56231" y="24694"/>
                  </a:cubicBezTo>
                </a:path>
              </a:pathLst>
            </a:custGeom>
            <a:solidFill>
              <a:srgbClr val="FF00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4453057" y="6506051"/>
            <a:ext cx="1388269" cy="112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6"/>
              </a:lnSpc>
              <a:spcBef>
                <a:spcPct val="0"/>
              </a:spcBef>
            </a:pPr>
            <a:r>
              <a:rPr lang="en-US" sz="660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Key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53526" y="7151724"/>
            <a:ext cx="2031683" cy="112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6"/>
              </a:lnSpc>
              <a:spcBef>
                <a:spcPct val="0"/>
              </a:spcBef>
            </a:pPr>
            <a:r>
              <a:rPr lang="en-US" sz="660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Value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7255459" y="2331516"/>
            <a:ext cx="0" cy="66181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007724" y="4816159"/>
            <a:ext cx="123095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007724" y="6081755"/>
            <a:ext cx="123095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007724" y="7347351"/>
            <a:ext cx="123095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007724" y="3507701"/>
            <a:ext cx="12309589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1336024" y="2331516"/>
            <a:ext cx="0" cy="66181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711998" y="6342379"/>
            <a:ext cx="765337" cy="779050"/>
          </a:xfrm>
          <a:custGeom>
            <a:avLst/>
            <a:gdLst/>
            <a:ahLst/>
            <a:cxnLst/>
            <a:rect r="r" b="b" t="t" l="l"/>
            <a:pathLst>
              <a:path h="779050" w="765337">
                <a:moveTo>
                  <a:pt x="0" y="0"/>
                </a:moveTo>
                <a:lnTo>
                  <a:pt x="765337" y="0"/>
                </a:lnTo>
                <a:lnTo>
                  <a:pt x="765337" y="779049"/>
                </a:lnTo>
                <a:lnTo>
                  <a:pt x="0" y="779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695183">
            <a:off x="3867660" y="1401272"/>
            <a:ext cx="4812542" cy="80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</a:pPr>
            <a:r>
              <a:rPr lang="en-US" sz="6604">
                <a:solidFill>
                  <a:srgbClr val="FF5757">
                    <a:alpha val="36863"/>
                  </a:srgbClr>
                </a:solidFill>
                <a:latin typeface="Biro Script Plus"/>
                <a:ea typeface="Biro Script Plus"/>
                <a:cs typeface="Biro Script Plus"/>
                <a:sym typeface="Biro Script Plus"/>
              </a:rPr>
              <a:t>{key:Value}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1242356"/>
            <a:ext cx="4225494" cy="1089159"/>
            <a:chOff x="0" y="0"/>
            <a:chExt cx="5633992" cy="145221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523387"/>
              <a:ext cx="5633992" cy="928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65"/>
                </a:lnSpc>
              </a:pP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</a:t>
              </a: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ctionaries.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0286" y="-19050"/>
              <a:ext cx="2562918" cy="409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5"/>
                </a:lnSpc>
              </a:pP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PYTHO</a:t>
              </a: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63620" y="3722013"/>
            <a:ext cx="2521744" cy="82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0"/>
              </a:lnSpc>
              <a:spcBef>
                <a:spcPct val="0"/>
              </a:spcBef>
            </a:pPr>
            <a:r>
              <a:rPr lang="en-US" b="true" sz="4871">
                <a:solidFill>
                  <a:srgbClr val="0047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Mutable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23745" y="4986295"/>
            <a:ext cx="2558296" cy="82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0"/>
              </a:lnSpc>
              <a:spcBef>
                <a:spcPct val="0"/>
              </a:spcBef>
            </a:pPr>
            <a:r>
              <a:rPr lang="en-US" b="true" sz="4871">
                <a:solidFill>
                  <a:srgbClr val="0047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Ordered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89419" y="6247129"/>
            <a:ext cx="3303151" cy="82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0"/>
              </a:lnSpc>
              <a:spcBef>
                <a:spcPct val="0"/>
              </a:spcBef>
            </a:pPr>
            <a:r>
              <a:rPr lang="en-US" b="true" sz="4871">
                <a:solidFill>
                  <a:srgbClr val="0047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Duplicates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89419" y="7504513"/>
            <a:ext cx="2607112" cy="82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0"/>
              </a:lnSpc>
              <a:spcBef>
                <a:spcPct val="0"/>
              </a:spcBef>
            </a:pPr>
            <a:r>
              <a:rPr lang="en-US" b="true" sz="4871">
                <a:solidFill>
                  <a:srgbClr val="0047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Indexing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98252" y="2055506"/>
            <a:ext cx="1491496" cy="112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6"/>
              </a:lnSpc>
              <a:spcBef>
                <a:spcPct val="0"/>
              </a:spcBef>
            </a:pPr>
            <a:r>
              <a:rPr lang="en-US" sz="66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98203" y="2055506"/>
            <a:ext cx="2253139" cy="112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6"/>
              </a:lnSpc>
              <a:spcBef>
                <a:spcPct val="0"/>
              </a:spcBef>
            </a:pPr>
            <a:r>
              <a:rPr lang="en-US" sz="66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Value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711998" y="3868708"/>
            <a:ext cx="692043" cy="692043"/>
          </a:xfrm>
          <a:custGeom>
            <a:avLst/>
            <a:gdLst/>
            <a:ahLst/>
            <a:cxnLst/>
            <a:rect r="r" b="b" t="t" l="l"/>
            <a:pathLst>
              <a:path h="692043" w="692043">
                <a:moveTo>
                  <a:pt x="0" y="0"/>
                </a:moveTo>
                <a:lnTo>
                  <a:pt x="692043" y="0"/>
                </a:lnTo>
                <a:lnTo>
                  <a:pt x="692043" y="692043"/>
                </a:lnTo>
                <a:lnTo>
                  <a:pt x="0" y="692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878751" y="3868708"/>
            <a:ext cx="692043" cy="692043"/>
          </a:xfrm>
          <a:custGeom>
            <a:avLst/>
            <a:gdLst/>
            <a:ahLst/>
            <a:cxnLst/>
            <a:rect r="r" b="b" t="t" l="l"/>
            <a:pathLst>
              <a:path h="692043" w="692043">
                <a:moveTo>
                  <a:pt x="0" y="0"/>
                </a:moveTo>
                <a:lnTo>
                  <a:pt x="692042" y="0"/>
                </a:lnTo>
                <a:lnTo>
                  <a:pt x="692042" y="692043"/>
                </a:lnTo>
                <a:lnTo>
                  <a:pt x="0" y="692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48645" y="5102936"/>
            <a:ext cx="692043" cy="692043"/>
          </a:xfrm>
          <a:custGeom>
            <a:avLst/>
            <a:gdLst/>
            <a:ahLst/>
            <a:cxnLst/>
            <a:rect r="r" b="b" t="t" l="l"/>
            <a:pathLst>
              <a:path h="692043" w="692043">
                <a:moveTo>
                  <a:pt x="0" y="0"/>
                </a:moveTo>
                <a:lnTo>
                  <a:pt x="692043" y="0"/>
                </a:lnTo>
                <a:lnTo>
                  <a:pt x="692043" y="692042"/>
                </a:lnTo>
                <a:lnTo>
                  <a:pt x="0" y="6920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878751" y="5143500"/>
            <a:ext cx="692043" cy="692043"/>
          </a:xfrm>
          <a:custGeom>
            <a:avLst/>
            <a:gdLst/>
            <a:ahLst/>
            <a:cxnLst/>
            <a:rect r="r" b="b" t="t" l="l"/>
            <a:pathLst>
              <a:path h="692043" w="692043">
                <a:moveTo>
                  <a:pt x="0" y="0"/>
                </a:moveTo>
                <a:lnTo>
                  <a:pt x="692042" y="0"/>
                </a:lnTo>
                <a:lnTo>
                  <a:pt x="692042" y="692043"/>
                </a:lnTo>
                <a:lnTo>
                  <a:pt x="0" y="692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878751" y="6363112"/>
            <a:ext cx="692043" cy="692043"/>
          </a:xfrm>
          <a:custGeom>
            <a:avLst/>
            <a:gdLst/>
            <a:ahLst/>
            <a:cxnLst/>
            <a:rect r="r" b="b" t="t" l="l"/>
            <a:pathLst>
              <a:path h="692043" w="692043">
                <a:moveTo>
                  <a:pt x="0" y="0"/>
                </a:moveTo>
                <a:lnTo>
                  <a:pt x="692042" y="0"/>
                </a:lnTo>
                <a:lnTo>
                  <a:pt x="692042" y="692043"/>
                </a:lnTo>
                <a:lnTo>
                  <a:pt x="0" y="692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785292" y="7671201"/>
            <a:ext cx="692043" cy="692043"/>
          </a:xfrm>
          <a:custGeom>
            <a:avLst/>
            <a:gdLst/>
            <a:ahLst/>
            <a:cxnLst/>
            <a:rect r="r" b="b" t="t" l="l"/>
            <a:pathLst>
              <a:path h="692043" w="692043">
                <a:moveTo>
                  <a:pt x="0" y="0"/>
                </a:moveTo>
                <a:lnTo>
                  <a:pt x="692043" y="0"/>
                </a:lnTo>
                <a:lnTo>
                  <a:pt x="692043" y="692043"/>
                </a:lnTo>
                <a:lnTo>
                  <a:pt x="0" y="692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878751" y="7642626"/>
            <a:ext cx="765337" cy="779050"/>
          </a:xfrm>
          <a:custGeom>
            <a:avLst/>
            <a:gdLst/>
            <a:ahLst/>
            <a:cxnLst/>
            <a:rect r="r" b="b" t="t" l="l"/>
            <a:pathLst>
              <a:path h="779050" w="765337">
                <a:moveTo>
                  <a:pt x="0" y="0"/>
                </a:moveTo>
                <a:lnTo>
                  <a:pt x="765337" y="0"/>
                </a:lnTo>
                <a:lnTo>
                  <a:pt x="765337" y="779050"/>
                </a:lnTo>
                <a:lnTo>
                  <a:pt x="0" y="779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198548" y="2997631"/>
            <a:ext cx="1597143" cy="1905485"/>
          </a:xfrm>
          <a:custGeom>
            <a:avLst/>
            <a:gdLst/>
            <a:ahLst/>
            <a:cxnLst/>
            <a:rect r="r" b="b" t="t" l="l"/>
            <a:pathLst>
              <a:path h="1905485" w="1597143">
                <a:moveTo>
                  <a:pt x="0" y="0"/>
                </a:moveTo>
                <a:lnTo>
                  <a:pt x="1597143" y="0"/>
                </a:lnTo>
                <a:lnTo>
                  <a:pt x="1597143" y="1905484"/>
                </a:lnTo>
                <a:lnTo>
                  <a:pt x="0" y="1905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41447" y="5415881"/>
            <a:ext cx="10356272" cy="1126949"/>
          </a:xfrm>
          <a:custGeom>
            <a:avLst/>
            <a:gdLst/>
            <a:ahLst/>
            <a:cxnLst/>
            <a:rect r="r" b="b" t="t" l="l"/>
            <a:pathLst>
              <a:path h="1126949" w="10356272">
                <a:moveTo>
                  <a:pt x="0" y="0"/>
                </a:moveTo>
                <a:lnTo>
                  <a:pt x="10356272" y="0"/>
                </a:lnTo>
                <a:lnTo>
                  <a:pt x="10356272" y="1126949"/>
                </a:lnTo>
                <a:lnTo>
                  <a:pt x="0" y="1126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41447" y="6863351"/>
            <a:ext cx="4138761" cy="717704"/>
          </a:xfrm>
          <a:custGeom>
            <a:avLst/>
            <a:gdLst/>
            <a:ahLst/>
            <a:cxnLst/>
            <a:rect r="r" b="b" t="t" l="l"/>
            <a:pathLst>
              <a:path h="717704" w="4138761">
                <a:moveTo>
                  <a:pt x="0" y="0"/>
                </a:moveTo>
                <a:lnTo>
                  <a:pt x="4138761" y="0"/>
                </a:lnTo>
                <a:lnTo>
                  <a:pt x="4138761" y="717704"/>
                </a:lnTo>
                <a:lnTo>
                  <a:pt x="0" y="7177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31" t="-13799" r="-5409" b="-1539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41447" y="7581055"/>
            <a:ext cx="6631674" cy="2293332"/>
          </a:xfrm>
          <a:custGeom>
            <a:avLst/>
            <a:gdLst/>
            <a:ahLst/>
            <a:cxnLst/>
            <a:rect r="r" b="b" t="t" l="l"/>
            <a:pathLst>
              <a:path h="2293332" w="6631674">
                <a:moveTo>
                  <a:pt x="0" y="0"/>
                </a:moveTo>
                <a:lnTo>
                  <a:pt x="6631674" y="0"/>
                </a:lnTo>
                <a:lnTo>
                  <a:pt x="6631674" y="2293332"/>
                </a:lnTo>
                <a:lnTo>
                  <a:pt x="0" y="2293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695183">
            <a:off x="3867660" y="1401272"/>
            <a:ext cx="4812542" cy="80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</a:pPr>
            <a:r>
              <a:rPr lang="en-US" sz="6604">
                <a:solidFill>
                  <a:srgbClr val="FF5757">
                    <a:alpha val="36863"/>
                  </a:srgbClr>
                </a:solidFill>
                <a:latin typeface="Biro Script Plus"/>
                <a:ea typeface="Biro Script Plus"/>
                <a:cs typeface="Biro Script Plus"/>
                <a:sym typeface="Biro Script Plus"/>
              </a:rPr>
              <a:t>{key:Value}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1242356"/>
            <a:ext cx="4225494" cy="1089159"/>
            <a:chOff x="0" y="0"/>
            <a:chExt cx="5633992" cy="145221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523387"/>
              <a:ext cx="5633992" cy="928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65"/>
                </a:lnSpc>
              </a:pP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</a:t>
              </a: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ctionaries.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0286" y="-19050"/>
              <a:ext cx="2562918" cy="409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5"/>
                </a:lnSpc>
              </a:pP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PYTHO</a:t>
              </a: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980219" y="4332250"/>
            <a:ext cx="3257225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4704"/>
                </a:solidFill>
                <a:latin typeface="Dekko"/>
                <a:ea typeface="Dekko"/>
                <a:cs typeface="Dekko"/>
                <a:sym typeface="Dekko"/>
              </a:rPr>
              <a:t>lockers = { . . . 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80219" y="3666135"/>
            <a:ext cx="13279081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The money is</a:t>
            </a:r>
            <a:r>
              <a:rPr lang="en-US" sz="3399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manipulated. Investigate and find the money in the lockers.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80219" y="2740257"/>
            <a:ext cx="6117431" cy="82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0"/>
              </a:lnSpc>
              <a:spcBef>
                <a:spcPct val="0"/>
              </a:spcBef>
            </a:pPr>
            <a:r>
              <a:rPr lang="en-US" b="true" sz="4871">
                <a:solidFill>
                  <a:srgbClr val="C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163219" y="1197316"/>
            <a:ext cx="950665" cy="1134199"/>
          </a:xfrm>
          <a:custGeom>
            <a:avLst/>
            <a:gdLst/>
            <a:ahLst/>
            <a:cxnLst/>
            <a:rect r="r" b="b" t="t" l="l"/>
            <a:pathLst>
              <a:path h="1134199" w="950665">
                <a:moveTo>
                  <a:pt x="0" y="0"/>
                </a:moveTo>
                <a:lnTo>
                  <a:pt x="950665" y="0"/>
                </a:lnTo>
                <a:lnTo>
                  <a:pt x="950665" y="1134200"/>
                </a:lnTo>
                <a:lnTo>
                  <a:pt x="0" y="1134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57032" y="2406403"/>
            <a:ext cx="8035961" cy="2639075"/>
          </a:xfrm>
          <a:custGeom>
            <a:avLst/>
            <a:gdLst/>
            <a:ahLst/>
            <a:cxnLst/>
            <a:rect r="r" b="b" t="t" l="l"/>
            <a:pathLst>
              <a:path h="2639075" w="8035961">
                <a:moveTo>
                  <a:pt x="0" y="0"/>
                </a:moveTo>
                <a:lnTo>
                  <a:pt x="8035962" y="0"/>
                </a:lnTo>
                <a:lnTo>
                  <a:pt x="8035962" y="2639076"/>
                </a:lnTo>
                <a:lnTo>
                  <a:pt x="0" y="2639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02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57032" y="5045479"/>
            <a:ext cx="11301259" cy="3997820"/>
          </a:xfrm>
          <a:custGeom>
            <a:avLst/>
            <a:gdLst/>
            <a:ahLst/>
            <a:cxnLst/>
            <a:rect r="r" b="b" t="t" l="l"/>
            <a:pathLst>
              <a:path h="3997820" w="11301259">
                <a:moveTo>
                  <a:pt x="0" y="0"/>
                </a:moveTo>
                <a:lnTo>
                  <a:pt x="11301259" y="0"/>
                </a:lnTo>
                <a:lnTo>
                  <a:pt x="11301259" y="3997820"/>
                </a:lnTo>
                <a:lnTo>
                  <a:pt x="0" y="3997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678298" y="4926343"/>
            <a:ext cx="3441642" cy="1359813"/>
            <a:chOff x="0" y="0"/>
            <a:chExt cx="537150" cy="212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7150" cy="212231"/>
            </a:xfrm>
            <a:custGeom>
              <a:avLst/>
              <a:gdLst/>
              <a:ahLst/>
              <a:cxnLst/>
              <a:rect r="r" b="b" t="t" l="l"/>
              <a:pathLst>
                <a:path h="212231" w="537150">
                  <a:moveTo>
                    <a:pt x="0" y="0"/>
                  </a:moveTo>
                  <a:lnTo>
                    <a:pt x="537150" y="0"/>
                  </a:lnTo>
                  <a:lnTo>
                    <a:pt x="537150" y="212231"/>
                  </a:lnTo>
                  <a:lnTo>
                    <a:pt x="0" y="2122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37150" cy="250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242356"/>
            <a:ext cx="4225494" cy="1089159"/>
            <a:chOff x="0" y="0"/>
            <a:chExt cx="5633992" cy="145221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23387"/>
              <a:ext cx="5633992" cy="928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65"/>
                </a:lnSpc>
              </a:pP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</a:t>
              </a: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ctionaries.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0286" y="-19050"/>
              <a:ext cx="2562918" cy="409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5"/>
                </a:lnSpc>
              </a:pP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PYTHO</a:t>
              </a: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215852" y="1987638"/>
            <a:ext cx="1938793" cy="3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004704"/>
                </a:solidFill>
                <a:latin typeface="Dekko"/>
                <a:ea typeface="Dekko"/>
                <a:cs typeface="Dekko"/>
                <a:sym typeface="Dekko"/>
              </a:rPr>
              <a:t>lockers = { . . . 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15852" y="1591147"/>
            <a:ext cx="7904088" cy="3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The money is</a:t>
            </a:r>
            <a:r>
              <a:rPr lang="en-US" sz="2023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manipulated. Investigate and find the money in the lockers.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15852" y="1034141"/>
            <a:ext cx="3641270" cy="50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C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163219" y="1197316"/>
            <a:ext cx="950665" cy="1134199"/>
          </a:xfrm>
          <a:custGeom>
            <a:avLst/>
            <a:gdLst/>
            <a:ahLst/>
            <a:cxnLst/>
            <a:rect r="r" b="b" t="t" l="l"/>
            <a:pathLst>
              <a:path h="1134199" w="950665">
                <a:moveTo>
                  <a:pt x="0" y="0"/>
                </a:moveTo>
                <a:lnTo>
                  <a:pt x="950665" y="0"/>
                </a:lnTo>
                <a:lnTo>
                  <a:pt x="950665" y="1134200"/>
                </a:lnTo>
                <a:lnTo>
                  <a:pt x="0" y="1134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16168" y="2817291"/>
            <a:ext cx="10640637" cy="1490040"/>
          </a:xfrm>
          <a:custGeom>
            <a:avLst/>
            <a:gdLst/>
            <a:ahLst/>
            <a:cxnLst/>
            <a:rect r="r" b="b" t="t" l="l"/>
            <a:pathLst>
              <a:path h="1490040" w="10640637">
                <a:moveTo>
                  <a:pt x="0" y="0"/>
                </a:moveTo>
                <a:lnTo>
                  <a:pt x="10640637" y="0"/>
                </a:lnTo>
                <a:lnTo>
                  <a:pt x="10640637" y="1490039"/>
                </a:lnTo>
                <a:lnTo>
                  <a:pt x="0" y="149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16168" y="4307330"/>
            <a:ext cx="10640637" cy="2551498"/>
          </a:xfrm>
          <a:custGeom>
            <a:avLst/>
            <a:gdLst/>
            <a:ahLst/>
            <a:cxnLst/>
            <a:rect r="r" b="b" t="t" l="l"/>
            <a:pathLst>
              <a:path h="2551498" w="10640637">
                <a:moveTo>
                  <a:pt x="0" y="0"/>
                </a:moveTo>
                <a:lnTo>
                  <a:pt x="10640637" y="0"/>
                </a:lnTo>
                <a:lnTo>
                  <a:pt x="10640637" y="2551498"/>
                </a:lnTo>
                <a:lnTo>
                  <a:pt x="0" y="25514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90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16168" y="6858828"/>
            <a:ext cx="10640637" cy="2076606"/>
          </a:xfrm>
          <a:custGeom>
            <a:avLst/>
            <a:gdLst/>
            <a:ahLst/>
            <a:cxnLst/>
            <a:rect r="r" b="b" t="t" l="l"/>
            <a:pathLst>
              <a:path h="2076606" w="10640637">
                <a:moveTo>
                  <a:pt x="0" y="0"/>
                </a:moveTo>
                <a:lnTo>
                  <a:pt x="10640637" y="0"/>
                </a:lnTo>
                <a:lnTo>
                  <a:pt x="10640637" y="2076606"/>
                </a:lnTo>
                <a:lnTo>
                  <a:pt x="0" y="2076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6208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242356"/>
            <a:ext cx="4225494" cy="1089159"/>
            <a:chOff x="0" y="0"/>
            <a:chExt cx="5633992" cy="145221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523387"/>
              <a:ext cx="5633992" cy="928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65"/>
                </a:lnSpc>
              </a:pP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</a:t>
              </a: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ctionaries.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00286" y="-19050"/>
              <a:ext cx="2562918" cy="409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5"/>
                </a:lnSpc>
              </a:pP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PYTHO</a:t>
              </a: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215852" y="1987638"/>
            <a:ext cx="1938793" cy="3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004704"/>
                </a:solidFill>
                <a:latin typeface="Dekko"/>
                <a:ea typeface="Dekko"/>
                <a:cs typeface="Dekko"/>
                <a:sym typeface="Dekko"/>
              </a:rPr>
              <a:t>lockers = { . . . 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15852" y="1591147"/>
            <a:ext cx="7904088" cy="3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The money is</a:t>
            </a:r>
            <a:r>
              <a:rPr lang="en-US" sz="2023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manipulated. Investigate and find the money in the lockers.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15852" y="1034141"/>
            <a:ext cx="3641270" cy="50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C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163219" y="1197316"/>
            <a:ext cx="950665" cy="1134199"/>
          </a:xfrm>
          <a:custGeom>
            <a:avLst/>
            <a:gdLst/>
            <a:ahLst/>
            <a:cxnLst/>
            <a:rect r="r" b="b" t="t" l="l"/>
            <a:pathLst>
              <a:path h="1134199" w="950665">
                <a:moveTo>
                  <a:pt x="0" y="0"/>
                </a:moveTo>
                <a:lnTo>
                  <a:pt x="950665" y="0"/>
                </a:lnTo>
                <a:lnTo>
                  <a:pt x="950665" y="1134200"/>
                </a:lnTo>
                <a:lnTo>
                  <a:pt x="0" y="1134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97148" y="2817291"/>
            <a:ext cx="12493704" cy="1405542"/>
          </a:xfrm>
          <a:custGeom>
            <a:avLst/>
            <a:gdLst/>
            <a:ahLst/>
            <a:cxnLst/>
            <a:rect r="r" b="b" t="t" l="l"/>
            <a:pathLst>
              <a:path h="1405542" w="12493704">
                <a:moveTo>
                  <a:pt x="0" y="0"/>
                </a:moveTo>
                <a:lnTo>
                  <a:pt x="12493704" y="0"/>
                </a:lnTo>
                <a:lnTo>
                  <a:pt x="12493704" y="1405541"/>
                </a:lnTo>
                <a:lnTo>
                  <a:pt x="0" y="1405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97148" y="4634943"/>
            <a:ext cx="12493704" cy="1124433"/>
          </a:xfrm>
          <a:custGeom>
            <a:avLst/>
            <a:gdLst/>
            <a:ahLst/>
            <a:cxnLst/>
            <a:rect r="r" b="b" t="t" l="l"/>
            <a:pathLst>
              <a:path h="1124433" w="12493704">
                <a:moveTo>
                  <a:pt x="0" y="0"/>
                </a:moveTo>
                <a:lnTo>
                  <a:pt x="12493704" y="0"/>
                </a:lnTo>
                <a:lnTo>
                  <a:pt x="12493704" y="1124434"/>
                </a:lnTo>
                <a:lnTo>
                  <a:pt x="0" y="1124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242356"/>
            <a:ext cx="4225494" cy="1089159"/>
            <a:chOff x="0" y="0"/>
            <a:chExt cx="5633992" cy="145221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523387"/>
              <a:ext cx="5633992" cy="928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65"/>
                </a:lnSpc>
              </a:pP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</a:t>
              </a: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ctionaries.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0286" y="-19050"/>
              <a:ext cx="2562918" cy="409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5"/>
                </a:lnSpc>
              </a:pP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PYTHO</a:t>
              </a: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15852" y="1987638"/>
            <a:ext cx="1938793" cy="3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004704"/>
                </a:solidFill>
                <a:latin typeface="Dekko"/>
                <a:ea typeface="Dekko"/>
                <a:cs typeface="Dekko"/>
                <a:sym typeface="Dekko"/>
              </a:rPr>
              <a:t>lockers = { . . . 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15852" y="1591147"/>
            <a:ext cx="7904088" cy="3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The money is</a:t>
            </a:r>
            <a:r>
              <a:rPr lang="en-US" sz="2023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manipulated. Investigate and find the money in the lockers.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15852" y="1034141"/>
            <a:ext cx="3641270" cy="50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C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76083" y="6578527"/>
            <a:ext cx="8920807" cy="642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3"/>
              </a:lnSpc>
              <a:spcBef>
                <a:spcPct val="0"/>
              </a:spcBef>
            </a:pPr>
            <a:r>
              <a:rPr lang="en-US" sz="3873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key(), value(), items() -----&gt; Return view object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541208" y="1365317"/>
            <a:ext cx="1211336" cy="1445195"/>
          </a:xfrm>
          <a:custGeom>
            <a:avLst/>
            <a:gdLst/>
            <a:ahLst/>
            <a:cxnLst/>
            <a:rect r="r" b="b" t="t" l="l"/>
            <a:pathLst>
              <a:path h="1445195" w="1211336">
                <a:moveTo>
                  <a:pt x="0" y="0"/>
                </a:moveTo>
                <a:lnTo>
                  <a:pt x="1211336" y="0"/>
                </a:lnTo>
                <a:lnTo>
                  <a:pt x="1211336" y="1445195"/>
                </a:lnTo>
                <a:lnTo>
                  <a:pt x="0" y="1445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66604" y="2924812"/>
            <a:ext cx="10372549" cy="5510417"/>
          </a:xfrm>
          <a:custGeom>
            <a:avLst/>
            <a:gdLst/>
            <a:ahLst/>
            <a:cxnLst/>
            <a:rect r="r" b="b" t="t" l="l"/>
            <a:pathLst>
              <a:path h="5510417" w="10372549">
                <a:moveTo>
                  <a:pt x="0" y="0"/>
                </a:moveTo>
                <a:lnTo>
                  <a:pt x="10372549" y="0"/>
                </a:lnTo>
                <a:lnTo>
                  <a:pt x="10372549" y="5510417"/>
                </a:lnTo>
                <a:lnTo>
                  <a:pt x="0" y="5510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242356"/>
            <a:ext cx="4225494" cy="1089159"/>
            <a:chOff x="0" y="0"/>
            <a:chExt cx="5633992" cy="14522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523387"/>
              <a:ext cx="5633992" cy="928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65"/>
                </a:lnSpc>
              </a:pP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</a:t>
              </a:r>
              <a:r>
                <a:rPr lang="en-US" sz="5227" spc="-26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ctionaries.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0286" y="-19050"/>
              <a:ext cx="2562918" cy="409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5"/>
                </a:lnSpc>
              </a:pP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PYTHO</a:t>
              </a:r>
              <a:r>
                <a:rPr lang="en-US" sz="1935" spc="96">
                  <a:solidFill>
                    <a:srgbClr val="000000"/>
                  </a:solidFill>
                  <a:latin typeface="Sanchez"/>
                  <a:ea typeface="Sanchez"/>
                  <a:cs typeface="Sanchez"/>
                  <a:sym typeface="Sanchez"/>
                </a:rPr>
                <a:t>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882472" y="2363740"/>
            <a:ext cx="2470407" cy="446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>
                <a:solidFill>
                  <a:srgbClr val="004704"/>
                </a:solidFill>
                <a:latin typeface="Dekko"/>
                <a:ea typeface="Dekko"/>
                <a:cs typeface="Dekko"/>
                <a:sym typeface="Dekko"/>
              </a:rPr>
              <a:t>lockers = { . . . 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2472" y="1858532"/>
            <a:ext cx="10071376" cy="446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The money is</a:t>
            </a:r>
            <a:r>
              <a:rPr lang="en-US" sz="2578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manipulated. Investigate and find the money in the lockers.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2472" y="1166156"/>
            <a:ext cx="4639700" cy="63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2"/>
              </a:lnSpc>
              <a:spcBef>
                <a:spcPct val="0"/>
              </a:spcBef>
            </a:pPr>
            <a:r>
              <a:rPr lang="en-US" b="true" sz="3694">
                <a:solidFill>
                  <a:srgbClr val="C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77442" y="533701"/>
            <a:ext cx="2836298" cy="894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3"/>
              </a:lnSpc>
            </a:pPr>
            <a:r>
              <a:rPr lang="en-US" b="true" sz="527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Python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13740" y="85925"/>
            <a:ext cx="3545786" cy="169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89"/>
              </a:lnSpc>
              <a:spcBef>
                <a:spcPct val="0"/>
              </a:spcBef>
            </a:pPr>
            <a:r>
              <a:rPr lang="en-US" b="true" sz="999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Set’s.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93364"/>
            <a:ext cx="16010763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an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unordered collection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to store multiple unique items in a single variable. 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does not allow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duplicates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 ‘set’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automatically removes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repeated values.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are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mutable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so we can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 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 items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but the elements themselves must be immutable.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1046" y="2252332"/>
            <a:ext cx="5596446" cy="247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7"/>
              </a:lnSpc>
            </a:pPr>
            <a:r>
              <a:rPr lang="en-US" b="true" sz="711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Intro</a:t>
            </a:r>
            <a:r>
              <a:rPr lang="en-US" b="true" sz="711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duction</a:t>
            </a:r>
          </a:p>
          <a:p>
            <a:pPr algn="ctr">
              <a:lnSpc>
                <a:spcPts val="9957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74646" y="4699418"/>
            <a:ext cx="4330780" cy="82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0"/>
              </a:lnSpc>
              <a:spcBef>
                <a:spcPct val="0"/>
              </a:spcBef>
            </a:pPr>
            <a:r>
              <a:rPr lang="en-US" b="true" sz="487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Unique values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04811"/>
            <a:ext cx="8649621" cy="13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24"/>
              </a:lnSpc>
              <a:spcBef>
                <a:spcPct val="0"/>
              </a:spcBef>
            </a:pPr>
            <a:r>
              <a:rPr lang="en-US" b="true" sz="816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What is set?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28768" y="2478417"/>
            <a:ext cx="3284577" cy="82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0"/>
              </a:lnSpc>
              <a:spcBef>
                <a:spcPct val="0"/>
              </a:spcBef>
            </a:pPr>
            <a:r>
              <a:rPr lang="en-US" b="true" sz="487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Unordered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74646" y="7025689"/>
            <a:ext cx="2521744" cy="82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0"/>
              </a:lnSpc>
              <a:spcBef>
                <a:spcPct val="0"/>
              </a:spcBef>
            </a:pPr>
            <a:r>
              <a:rPr lang="en-US" b="true" sz="487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Mutable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3568" y="2256189"/>
            <a:ext cx="638103" cy="105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0"/>
              </a:lnSpc>
              <a:spcBef>
                <a:spcPct val="0"/>
              </a:spcBef>
            </a:pPr>
            <a:r>
              <a:rPr lang="en-US" b="true" sz="61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✦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62531" y="3490899"/>
            <a:ext cx="10165820" cy="59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777" indent="-378889" lvl="1">
              <a:lnSpc>
                <a:spcPts val="4913"/>
              </a:lnSpc>
              <a:buFont typeface="Arial"/>
              <a:buChar char="•"/>
            </a:pPr>
            <a:r>
              <a:rPr lang="en-US" b="true" sz="350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Items have no guaranteed order or index.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42101" y="5692010"/>
            <a:ext cx="10636647" cy="117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989" indent="-369995" lvl="1">
              <a:lnSpc>
                <a:spcPts val="4798"/>
              </a:lnSpc>
              <a:buFont typeface="Arial"/>
              <a:buChar char="•"/>
            </a:pPr>
            <a:r>
              <a:rPr lang="en-US" b="true" sz="342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342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uplicate values are automatically removed</a:t>
            </a:r>
          </a:p>
          <a:p>
            <a:pPr algn="l">
              <a:lnSpc>
                <a:spcPts val="479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83568" y="4526409"/>
            <a:ext cx="678963" cy="111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2"/>
              </a:lnSpc>
              <a:spcBef>
                <a:spcPct val="0"/>
              </a:spcBef>
            </a:pPr>
            <a:r>
              <a:rPr lang="en-US" b="true" sz="655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✦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3998" y="6859944"/>
            <a:ext cx="638103" cy="105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0"/>
              </a:lnSpc>
              <a:spcBef>
                <a:spcPct val="0"/>
              </a:spcBef>
            </a:pPr>
            <a:r>
              <a:rPr lang="en-US" b="true" sz="615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✦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21671" y="8120482"/>
            <a:ext cx="10972784" cy="59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3389" indent="-376695" lvl="1">
              <a:lnSpc>
                <a:spcPts val="4885"/>
              </a:lnSpc>
              <a:buFont typeface="Arial"/>
              <a:buChar char="•"/>
            </a:pPr>
            <a:r>
              <a:rPr lang="en-US" b="true" sz="348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Items can be added </a:t>
            </a:r>
            <a:r>
              <a:rPr lang="en-US" b="true" sz="348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 removed after creation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032022" y="1763139"/>
            <a:ext cx="6575277" cy="7049636"/>
          </a:xfrm>
          <a:custGeom>
            <a:avLst/>
            <a:gdLst/>
            <a:ahLst/>
            <a:cxnLst/>
            <a:rect r="r" b="b" t="t" l="l"/>
            <a:pathLst>
              <a:path h="7049636" w="6575277">
                <a:moveTo>
                  <a:pt x="0" y="0"/>
                </a:moveTo>
                <a:lnTo>
                  <a:pt x="6575277" y="0"/>
                </a:lnTo>
                <a:lnTo>
                  <a:pt x="6575277" y="7049636"/>
                </a:lnTo>
                <a:lnTo>
                  <a:pt x="0" y="7049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147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04315" y="558382"/>
            <a:ext cx="6068660" cy="85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4"/>
              </a:lnSpc>
              <a:spcBef>
                <a:spcPct val="0"/>
              </a:spcBef>
            </a:pPr>
            <a:r>
              <a:rPr lang="en-US" b="true" sz="513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513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reating Sets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123440"/>
            <a:ext cx="7751720" cy="58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3073" indent="-371537" lvl="1">
              <a:lnSpc>
                <a:spcPts val="4818"/>
              </a:lnSpc>
              <a:buFont typeface="Arial"/>
              <a:buChar char="•"/>
            </a:pPr>
            <a:r>
              <a:rPr lang="en-US" b="true" sz="344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Create set using curly braces.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096369"/>
            <a:ext cx="8303419" cy="57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989" indent="-369995" lvl="1">
              <a:lnSpc>
                <a:spcPts val="47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2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Removes duplicates automatically.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860604"/>
            <a:ext cx="7851815" cy="57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989" indent="-369995" lvl="1">
              <a:lnSpc>
                <a:spcPts val="47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2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Create  set of unique characters.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08877" y="7621396"/>
            <a:ext cx="6612493" cy="57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989" indent="-369995" lvl="1">
              <a:lnSpc>
                <a:spcPts val="47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2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Create an empty set (not{}).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6969" y="1548771"/>
            <a:ext cx="15256144" cy="7189458"/>
          </a:xfrm>
          <a:custGeom>
            <a:avLst/>
            <a:gdLst/>
            <a:ahLst/>
            <a:cxnLst/>
            <a:rect r="r" b="b" t="t" l="l"/>
            <a:pathLst>
              <a:path h="7189458" w="15256144">
                <a:moveTo>
                  <a:pt x="0" y="0"/>
                </a:moveTo>
                <a:lnTo>
                  <a:pt x="15256145" y="0"/>
                </a:lnTo>
                <a:lnTo>
                  <a:pt x="15256145" y="7189458"/>
                </a:lnTo>
                <a:lnTo>
                  <a:pt x="0" y="7189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92808" y="352886"/>
            <a:ext cx="9128540" cy="95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3"/>
              </a:lnSpc>
            </a:pPr>
            <a:r>
              <a:rPr lang="en-US" b="true" sz="562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Common Set Methods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0052" y="1495495"/>
            <a:ext cx="14767993" cy="7269070"/>
          </a:xfrm>
          <a:custGeom>
            <a:avLst/>
            <a:gdLst/>
            <a:ahLst/>
            <a:cxnLst/>
            <a:rect r="r" b="b" t="t" l="l"/>
            <a:pathLst>
              <a:path h="7269070" w="14767993">
                <a:moveTo>
                  <a:pt x="0" y="0"/>
                </a:moveTo>
                <a:lnTo>
                  <a:pt x="14767993" y="0"/>
                </a:lnTo>
                <a:lnTo>
                  <a:pt x="14767993" y="7269070"/>
                </a:lnTo>
                <a:lnTo>
                  <a:pt x="0" y="7269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4" t="0" r="-35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88038" y="248625"/>
            <a:ext cx="5678204" cy="100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08"/>
              </a:lnSpc>
              <a:spcBef>
                <a:spcPct val="0"/>
              </a:spcBef>
            </a:pPr>
            <a:r>
              <a:rPr lang="en-US" b="true" sz="593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Set Operations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348" y="9277474"/>
            <a:ext cx="4838100" cy="1009526"/>
            <a:chOff x="0" y="0"/>
            <a:chExt cx="6450800" cy="1346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838" cy="1346073"/>
            </a:xfrm>
            <a:custGeom>
              <a:avLst/>
              <a:gdLst/>
              <a:ahLst/>
              <a:cxnLst/>
              <a:rect r="r" b="b" t="t" l="l"/>
              <a:pathLst>
                <a:path h="1346073" w="6450838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99774" y="2776128"/>
            <a:ext cx="6698466" cy="4251474"/>
            <a:chOff x="0" y="0"/>
            <a:chExt cx="8931288" cy="56686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31275" cy="5668645"/>
            </a:xfrm>
            <a:custGeom>
              <a:avLst/>
              <a:gdLst/>
              <a:ahLst/>
              <a:cxnLst/>
              <a:rect r="r" b="b" t="t" l="l"/>
              <a:pathLst>
                <a:path h="5668645" w="8931275">
                  <a:moveTo>
                    <a:pt x="0" y="0"/>
                  </a:moveTo>
                  <a:lnTo>
                    <a:pt x="8931275" y="0"/>
                  </a:lnTo>
                  <a:lnTo>
                    <a:pt x="8931275" y="5668645"/>
                  </a:lnTo>
                  <a:lnTo>
                    <a:pt x="0" y="5668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58321" y="4541501"/>
            <a:ext cx="5309902" cy="106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DAHChcUy6jQ</dc:identifier>
  <dcterms:modified xsi:type="dcterms:W3CDTF">2011-08-01T06:04:30Z</dcterms:modified>
  <cp:revision>1</cp:revision>
  <dc:title># Mention the Title</dc:title>
</cp:coreProperties>
</file>